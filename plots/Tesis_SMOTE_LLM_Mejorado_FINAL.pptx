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ZLs4V/A/balUjAZQoTTgFu+Fg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46116653c_4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46116653c_4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a46116653c_4_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46116653c_4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46116653c_4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a46116653c_4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46116653c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46116653c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46116653c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1404747" y="1148209"/>
            <a:ext cx="6334506" cy="1314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60"/>
              <a:buFont typeface="Arial"/>
              <a:buNone/>
            </a:pPr>
            <a:r>
              <a:rPr b="1" lang="en-US" sz="2760">
                <a:solidFill>
                  <a:srgbClr val="FFFFFF"/>
                </a:solidFill>
              </a:rPr>
              <a:t>SMOTE-LLM: Un Enfoque Híbrido para el Balanceo de Datos Textuales</a:t>
            </a:r>
            <a:endParaRPr b="0" i="0" sz="2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565751" y="3033713"/>
            <a:ext cx="4012350" cy="245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Tesis </a:t>
            </a:r>
            <a:r>
              <a:rPr lang="en-US" sz="1380">
                <a:solidFill>
                  <a:srgbClr val="FFFFFF"/>
                </a:solidFill>
              </a:rPr>
              <a:t>de Master of Science in Data Science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38500" y="3698230"/>
            <a:ext cx="2667000" cy="19050"/>
          </a:xfrm>
          <a:prstGeom prst="rect">
            <a:avLst/>
          </a:prstGeom>
          <a:solidFill>
            <a:srgbClr val="E875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008336" y="3786230"/>
            <a:ext cx="31272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Arial"/>
              <a:buNone/>
            </a:pPr>
            <a:r>
              <a:rPr lang="en-US" sz="1260">
                <a:solidFill>
                  <a:srgbClr val="FFFFFF"/>
                </a:solidFill>
              </a:rPr>
              <a:t>Alumno: </a:t>
            </a:r>
            <a:r>
              <a:rPr b="0" i="0" lang="en-US" sz="12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Benjamín </a:t>
            </a:r>
            <a:r>
              <a:rPr lang="en-US" sz="1260">
                <a:solidFill>
                  <a:srgbClr val="FFFFFF"/>
                </a:solidFill>
              </a:rPr>
              <a:t>Schindler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008261" y="4421237"/>
            <a:ext cx="3127328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III Congreso de Investigación en Data Science: IA Aplicada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008411" y="3988655"/>
            <a:ext cx="31272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Arial"/>
              <a:buNone/>
            </a:pPr>
            <a:r>
              <a:rPr lang="en-US" sz="1260">
                <a:solidFill>
                  <a:srgbClr val="FFFFFF"/>
                </a:solidFill>
              </a:rPr>
              <a:t>Profesor Guía: Gonzalo Ruz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850" y="4016374"/>
            <a:ext cx="1637425" cy="68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9324" y="3786219"/>
            <a:ext cx="1280976" cy="91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2650" y="2082549"/>
            <a:ext cx="3063850" cy="15319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3" name="Google Shape;33;p2"/>
          <p:cNvSpPr/>
          <p:nvPr/>
        </p:nvSpPr>
        <p:spPr>
          <a:xfrm>
            <a:off x="230900" y="1084325"/>
            <a:ext cx="8457000" cy="8253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 cap="flat" cmpd="sng" w="25400">
            <a:solidFill>
              <a:srgbClr val="3449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08842" y="1201475"/>
            <a:ext cx="57978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350">
                <a:solidFill>
                  <a:srgbClr val="1D1D1D"/>
                </a:solidFill>
              </a:rPr>
              <a:t>Análisis de sentimientos</a:t>
            </a:r>
            <a:endParaRPr b="1" sz="1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D1D1D"/>
                </a:solidFill>
              </a:rPr>
              <a:t>Es la herramienta clave para entender esta percepción pública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27825" y="4115675"/>
            <a:ext cx="6648900" cy="825300"/>
          </a:xfrm>
          <a:prstGeom prst="roundRect">
            <a:avLst>
              <a:gd fmla="val 7752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727800" y="4115680"/>
            <a:ext cx="10500" cy="813600"/>
          </a:xfrm>
          <a:prstGeom prst="straightConnector1">
            <a:avLst/>
          </a:prstGeom>
          <a:noFill/>
          <a:ln cap="flat" cmpd="sng" w="38100">
            <a:solidFill>
              <a:srgbClr val="2E8B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/>
          <p:nvPr/>
        </p:nvSpPr>
        <p:spPr>
          <a:xfrm>
            <a:off x="909326" y="4229979"/>
            <a:ext cx="53676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3500"/>
              </a:lnSpc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A6C7D"/>
                </a:solidFill>
              </a:rPr>
              <a:t>El problema:</a:t>
            </a:r>
            <a:endParaRPr b="0" i="0" sz="8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09343" y="4486848"/>
            <a:ext cx="63912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31"/>
              </a:lnSpc>
              <a:spcBef>
                <a:spcPts val="0"/>
              </a:spcBef>
              <a:spcAft>
                <a:spcPts val="0"/>
              </a:spcAft>
              <a:buClr>
                <a:srgbClr val="1C3A5C"/>
              </a:buClr>
              <a:buSzPts val="989"/>
              <a:buFont typeface="Arial"/>
              <a:buNone/>
            </a:pPr>
            <a:r>
              <a:rPr b="1" i="1" lang="en-US" sz="1390" u="none" cap="none" strike="noStrike">
                <a:solidFill>
                  <a:srgbClr val="1C3A5C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1" i="1" lang="en-US" sz="1390">
                <a:solidFill>
                  <a:srgbClr val="1C3A5C"/>
                </a:solidFill>
              </a:rPr>
              <a:t>¿Estamos escuchando todas las voces, o solo las más ruidosas?</a:t>
            </a:r>
            <a:r>
              <a:rPr b="1" i="1" lang="en-US" sz="1390" u="none" cap="none" strike="noStrike">
                <a:solidFill>
                  <a:srgbClr val="1C3A5C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b="0" i="0" sz="13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0" y="0"/>
            <a:ext cx="9144000" cy="879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46525" y="253900"/>
            <a:ext cx="8902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Contexto: El Desafío de Escuchar a la clase minoritaria</a:t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401375" y="2239153"/>
            <a:ext cx="4142700" cy="12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350" lIns="82700" spcFirstLastPara="1" rIns="82700" wrap="square" tIns="41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47">
                <a:solidFill>
                  <a:srgbClr val="34495E"/>
                </a:solidFill>
                <a:latin typeface="Calibri"/>
                <a:ea typeface="Calibri"/>
                <a:cs typeface="Calibri"/>
                <a:sym typeface="Calibri"/>
              </a:rPr>
              <a:t>Por Qué Esto Importa:</a:t>
            </a:r>
            <a:endParaRPr sz="1466"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724"/>
              </a:spcBef>
              <a:spcAft>
                <a:spcPts val="0"/>
              </a:spcAft>
              <a:buNone/>
            </a:pPr>
            <a:r>
              <a:rPr b="1" lang="en-US" sz="13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Análisis de Sentimientos en acción:</a:t>
            </a:r>
            <a:endParaRPr sz="14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5"/>
              <a:buNone/>
            </a:pPr>
            <a:r>
              <a:rPr lang="en-US" sz="12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Redes sociales: Detectar crisis de reputación temprano</a:t>
            </a:r>
            <a:endParaRPr sz="12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5"/>
              <a:buNone/>
            </a:pPr>
            <a:r>
              <a:rPr lang="en-US" sz="12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E-commerce: Identificar problemas de productos críticos </a:t>
            </a:r>
            <a:endParaRPr sz="12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5"/>
              <a:buNone/>
            </a:pPr>
            <a:r>
              <a:rPr lang="en-US" sz="12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 al cliente: Priorizar casos urgentes</a:t>
            </a:r>
            <a:endParaRPr sz="12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380900" y="1130989"/>
            <a:ext cx="21471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36"/>
              </a:lnSpc>
              <a:spcBef>
                <a:spcPts val="0"/>
              </a:spcBef>
              <a:spcAft>
                <a:spcPts val="0"/>
              </a:spcAft>
              <a:buClr>
                <a:srgbClr val="2E8B9E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2E8B9E"/>
                </a:solidFill>
              </a:rPr>
              <a:t>El Desbalance de Datos: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62675" y="1387663"/>
            <a:ext cx="42846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D1D1D"/>
                </a:solidFill>
              </a:rPr>
              <a:t>Datasets reales</a:t>
            </a:r>
            <a:r>
              <a:rPr b="0" i="0" lang="en-US" sz="13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siguen distribuciones de </a:t>
            </a:r>
            <a:r>
              <a:rPr b="1" i="0" lang="en-US" sz="1350" u="none" cap="none" strike="noStrike">
                <a:solidFill>
                  <a:srgbClr val="E87538"/>
                </a:solidFill>
                <a:latin typeface="Arial"/>
                <a:ea typeface="Arial"/>
                <a:cs typeface="Arial"/>
                <a:sym typeface="Arial"/>
              </a:rPr>
              <a:t>cola larga</a:t>
            </a:r>
            <a:endParaRPr sz="1300">
              <a:solidFill>
                <a:srgbClr val="1D1D1D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Consecuencia: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Los modelos de ML se vuelven "perezosos": aprenden a predecir la clase dominante e ignoran las señales críticas de las minorías.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47275" y="2742100"/>
            <a:ext cx="21471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36"/>
              </a:lnSpc>
              <a:spcBef>
                <a:spcPts val="0"/>
              </a:spcBef>
              <a:spcAft>
                <a:spcPts val="0"/>
              </a:spcAft>
              <a:buClr>
                <a:srgbClr val="2E8B9E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2E8B9E"/>
                </a:solidFill>
                <a:latin typeface="Arial"/>
                <a:ea typeface="Arial"/>
                <a:cs typeface="Arial"/>
                <a:sym typeface="Arial"/>
              </a:rPr>
              <a:t>Casos de Uso Críticos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47275" y="3004484"/>
            <a:ext cx="4200000" cy="534000"/>
          </a:xfrm>
          <a:prstGeom prst="roundRect">
            <a:avLst>
              <a:gd fmla="val 1141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3"/>
          <p:cNvCxnSpPr/>
          <p:nvPr/>
        </p:nvCxnSpPr>
        <p:spPr>
          <a:xfrm>
            <a:off x="361563" y="3004484"/>
            <a:ext cx="0" cy="534000"/>
          </a:xfrm>
          <a:prstGeom prst="straightConnector1">
            <a:avLst/>
          </a:prstGeom>
          <a:noFill/>
          <a:ln cap="flat" cmpd="sng" w="28575">
            <a:solidFill>
              <a:srgbClr val="E875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3"/>
          <p:cNvSpPr/>
          <p:nvPr/>
        </p:nvSpPr>
        <p:spPr>
          <a:xfrm>
            <a:off x="459640" y="3088274"/>
            <a:ext cx="40839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41"/>
              </a:lnSpc>
              <a:spcBef>
                <a:spcPts val="0"/>
              </a:spcBef>
              <a:spcAft>
                <a:spcPts val="0"/>
              </a:spcAft>
              <a:buClr>
                <a:srgbClr val="1C3A5C"/>
              </a:buClr>
              <a:buSzPts val="989"/>
              <a:buFont typeface="Arial"/>
              <a:buNone/>
            </a:pPr>
            <a:r>
              <a:rPr b="1" i="0" lang="en-US" sz="989" u="none" cap="none" strike="noStrike">
                <a:solidFill>
                  <a:srgbClr val="1C3A5C"/>
                </a:solidFill>
                <a:latin typeface="Arial"/>
                <a:ea typeface="Arial"/>
                <a:cs typeface="Arial"/>
                <a:sym typeface="Arial"/>
              </a:rPr>
              <a:t>Detección de Fraude</a:t>
            </a:r>
            <a:endParaRPr b="0" i="0" sz="9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9640" y="3294698"/>
            <a:ext cx="4083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750"/>
              </a:lnSpc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600"/>
              <a:buFont typeface="Arial"/>
              <a:buNone/>
            </a:pPr>
            <a:r>
              <a:rPr b="0" i="0" lang="en-US" sz="1000" u="none" cap="none" strike="noStrike">
                <a:solidFill>
                  <a:srgbClr val="5A6C7D"/>
                </a:solidFill>
                <a:latin typeface="Arial"/>
                <a:ea typeface="Arial"/>
                <a:cs typeface="Arial"/>
                <a:sym typeface="Arial"/>
              </a:rPr>
              <a:t>Transacciones fraudulentas &lt;1% pero críticas</a:t>
            </a:r>
            <a:endParaRPr b="0" i="0" sz="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47275" y="3622269"/>
            <a:ext cx="4200000" cy="534000"/>
          </a:xfrm>
          <a:prstGeom prst="roundRect">
            <a:avLst>
              <a:gd fmla="val 1141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3"/>
          <p:cNvCxnSpPr/>
          <p:nvPr/>
        </p:nvCxnSpPr>
        <p:spPr>
          <a:xfrm>
            <a:off x="361563" y="3622269"/>
            <a:ext cx="0" cy="534000"/>
          </a:xfrm>
          <a:prstGeom prst="straightConnector1">
            <a:avLst/>
          </a:prstGeom>
          <a:noFill/>
          <a:ln cap="flat" cmpd="sng" w="28575">
            <a:solidFill>
              <a:srgbClr val="E875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/>
          <p:nvPr/>
        </p:nvSpPr>
        <p:spPr>
          <a:xfrm>
            <a:off x="459640" y="3706059"/>
            <a:ext cx="40839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41"/>
              </a:lnSpc>
              <a:spcBef>
                <a:spcPts val="0"/>
              </a:spcBef>
              <a:spcAft>
                <a:spcPts val="0"/>
              </a:spcAft>
              <a:buClr>
                <a:srgbClr val="1C3A5C"/>
              </a:buClr>
              <a:buSzPts val="989"/>
              <a:buFont typeface="Arial"/>
              <a:buNone/>
            </a:pPr>
            <a:r>
              <a:rPr b="1" i="0" lang="en-US" sz="989" u="none" cap="none" strike="noStrike">
                <a:solidFill>
                  <a:srgbClr val="1C3A5C"/>
                </a:solidFill>
                <a:latin typeface="Arial"/>
                <a:ea typeface="Arial"/>
                <a:cs typeface="Arial"/>
                <a:sym typeface="Arial"/>
              </a:rPr>
              <a:t>Diagnóstico Médico</a:t>
            </a:r>
            <a:endParaRPr b="0" i="0" sz="9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9640" y="3912484"/>
            <a:ext cx="4083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C7D"/>
                </a:solidFill>
                <a:latin typeface="Arial"/>
                <a:ea typeface="Arial"/>
                <a:cs typeface="Arial"/>
                <a:sym typeface="Arial"/>
              </a:rPr>
              <a:t>Enfermedades raras requieren alta sensibilidad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47275" y="4240055"/>
            <a:ext cx="4200000" cy="534000"/>
          </a:xfrm>
          <a:prstGeom prst="roundRect">
            <a:avLst>
              <a:gd fmla="val 1141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3"/>
          <p:cNvCxnSpPr/>
          <p:nvPr/>
        </p:nvCxnSpPr>
        <p:spPr>
          <a:xfrm>
            <a:off x="361563" y="4240055"/>
            <a:ext cx="0" cy="534000"/>
          </a:xfrm>
          <a:prstGeom prst="straightConnector1">
            <a:avLst/>
          </a:prstGeom>
          <a:noFill/>
          <a:ln cap="flat" cmpd="sng" w="28575">
            <a:solidFill>
              <a:srgbClr val="E875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3"/>
          <p:cNvSpPr/>
          <p:nvPr/>
        </p:nvSpPr>
        <p:spPr>
          <a:xfrm>
            <a:off x="459640" y="4323845"/>
            <a:ext cx="40839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41"/>
              </a:lnSpc>
              <a:spcBef>
                <a:spcPts val="0"/>
              </a:spcBef>
              <a:spcAft>
                <a:spcPts val="0"/>
              </a:spcAft>
              <a:buClr>
                <a:srgbClr val="1C3A5C"/>
              </a:buClr>
              <a:buSzPts val="989"/>
              <a:buFont typeface="Arial"/>
              <a:buNone/>
            </a:pPr>
            <a:r>
              <a:rPr b="1" i="0" lang="en-US" sz="989" u="none" cap="none" strike="noStrike">
                <a:solidFill>
                  <a:srgbClr val="1C3A5C"/>
                </a:solidFill>
                <a:latin typeface="Arial"/>
                <a:ea typeface="Arial"/>
                <a:cs typeface="Arial"/>
                <a:sym typeface="Arial"/>
              </a:rPr>
              <a:t>Análisis de Sentimiento</a:t>
            </a:r>
            <a:endParaRPr b="0" i="0" sz="9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9640" y="4530270"/>
            <a:ext cx="4083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C7D"/>
                </a:solidFill>
                <a:latin typeface="Arial"/>
                <a:ea typeface="Arial"/>
                <a:cs typeface="Arial"/>
                <a:sym typeface="Arial"/>
              </a:rPr>
              <a:t>Opiniones minoritarias pero valiosas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361300" y="2888050"/>
            <a:ext cx="3497100" cy="2157000"/>
          </a:xfrm>
          <a:prstGeom prst="roundRect">
            <a:avLst>
              <a:gd fmla="val 4475" name="adj"/>
            </a:avLst>
          </a:prstGeom>
          <a:solidFill>
            <a:srgbClr val="F5F7FA"/>
          </a:solidFill>
          <a:ln cap="flat" cmpd="sng" w="19050">
            <a:solidFill>
              <a:srgbClr val="D1D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211901" y="3011159"/>
            <a:ext cx="36825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3A5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C3A5C"/>
                </a:solidFill>
              </a:rPr>
              <a:t>Predicciones Solo Para Clases Mayoritarias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248004" y="3631800"/>
            <a:ext cx="36102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85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650" y="3254474"/>
            <a:ext cx="1967002" cy="16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0" y="0"/>
            <a:ext cx="9144000" cy="879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46525" y="253900"/>
            <a:ext cx="8902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Problema: El Sesgo de la Mayoría</a:t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69" name="Google Shape;69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" name="Google Shape;70;p3" title="fig_mbti1_distribu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9975" y="942400"/>
            <a:ext cx="3026253" cy="1882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/>
        </p:nvSpPr>
        <p:spPr>
          <a:xfrm>
            <a:off x="429550" y="879300"/>
            <a:ext cx="40887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Sub-</a:t>
            </a:r>
            <a:r>
              <a:rPr b="1" lang="en-US" sz="2000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Mustreo</a:t>
            </a:r>
            <a:endParaRPr b="1" i="0" sz="20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Fortalezas: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y rápido de implementar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costo computacional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riesgo de overfitting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Limitación: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lang="en-US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Pérdida de información valiosa</a:t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4543850" y="909650"/>
            <a:ext cx="4088700" cy="4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Sobre-Muestreo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Fortalezas: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pierde información original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 tamaño del dataset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representación de minoritaria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Limitación: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lang="en-US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Generación sintética sin garantías de calidad</a:t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0" y="0"/>
            <a:ext cx="9144000" cy="879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46525" y="253900"/>
            <a:ext cx="8902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Estado del Arte: ¿Cómo se ha abordado?</a:t>
            </a:r>
            <a:endParaRPr b="1" sz="2600">
              <a:solidFill>
                <a:srgbClr val="FFFFFF"/>
              </a:solidFill>
            </a:endParaRPr>
          </a:p>
        </p:txBody>
      </p:sp>
      <p:pic>
        <p:nvPicPr>
          <p:cNvPr id="79" name="Google Shape;7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450" y="1253225"/>
            <a:ext cx="7431000" cy="341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46116653c_4_173"/>
          <p:cNvSpPr txBox="1"/>
          <p:nvPr/>
        </p:nvSpPr>
        <p:spPr>
          <a:xfrm>
            <a:off x="381000" y="879300"/>
            <a:ext cx="40887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Interpolación</a:t>
            </a:r>
            <a:r>
              <a:rPr b="1" i="0" lang="en-US" sz="20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 Tradicional</a:t>
            </a:r>
            <a:endParaRPr b="1" i="0" sz="20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Fortalezas: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Guía geométrica explícita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Identifica regiones subrepresentadas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Bajo costo computacional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Limitación: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Vector interpolado ≠ texto válido</a:t>
            </a:r>
            <a:endParaRPr/>
          </a:p>
        </p:txBody>
      </p:sp>
      <p:sp>
        <p:nvSpPr>
          <p:cNvPr id="87" name="Google Shape;87;g3a46116653c_4_173"/>
          <p:cNvSpPr txBox="1"/>
          <p:nvPr/>
        </p:nvSpPr>
        <p:spPr>
          <a:xfrm>
            <a:off x="5029200" y="879300"/>
            <a:ext cx="3657600" cy="4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LLM Generativo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Fortalezas: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Texto coherente y natural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Diversidad lingüística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Gramáticamente correcto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Limitación: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Sin guía espacial estructurada</a:t>
            </a:r>
            <a:endParaRPr/>
          </a:p>
        </p:txBody>
      </p:sp>
      <p:pic>
        <p:nvPicPr>
          <p:cNvPr id="88" name="Google Shape;88;g3a46116653c_4_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00" y="1255475"/>
            <a:ext cx="3034849" cy="2209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a46116653c_4_1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9825" y="1255475"/>
            <a:ext cx="2960425" cy="21711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a46116653c_4_173"/>
          <p:cNvSpPr/>
          <p:nvPr/>
        </p:nvSpPr>
        <p:spPr>
          <a:xfrm>
            <a:off x="0" y="0"/>
            <a:ext cx="9144000" cy="879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a46116653c_4_173"/>
          <p:cNvSpPr/>
          <p:nvPr/>
        </p:nvSpPr>
        <p:spPr>
          <a:xfrm>
            <a:off x="146525" y="253900"/>
            <a:ext cx="8902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Estado del Arte: ¿Cómo se ha abordado?</a:t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92" name="Google Shape;92;g3a46116653c_4_1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3400" y="1687150"/>
            <a:ext cx="2300600" cy="23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 txBox="1"/>
          <p:nvPr/>
        </p:nvSpPr>
        <p:spPr>
          <a:xfrm>
            <a:off x="258325" y="981288"/>
            <a:ext cx="7020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000" lIns="77975" spcFirstLastPara="1" rIns="77975" wrap="square" tIns="39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94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A pesar de los avances, los</a:t>
            </a:r>
            <a:r>
              <a:rPr b="0" i="1" lang="en-US" sz="1194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194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enfoques </a:t>
            </a:r>
            <a:r>
              <a:rPr i="1" lang="en-US" sz="1194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de aumento con LLMs</a:t>
            </a:r>
            <a:r>
              <a:rPr b="0" i="1" lang="en-US" sz="1194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 actuales presentan deficiencias no resueltas</a:t>
            </a:r>
            <a:endParaRPr sz="1194"/>
          </a:p>
        </p:txBody>
      </p:sp>
      <p:sp>
        <p:nvSpPr>
          <p:cNvPr id="99" name="Google Shape;99;p5"/>
          <p:cNvSpPr/>
          <p:nvPr/>
        </p:nvSpPr>
        <p:spPr>
          <a:xfrm>
            <a:off x="258325" y="1415214"/>
            <a:ext cx="7020300" cy="9357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21650">
            <a:solidFill>
              <a:srgbClr val="1C3A5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9000" lIns="77975" spcFirstLastPara="1" rIns="77975" wrap="square" tIns="39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336331" y="1493220"/>
            <a:ext cx="68646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000" lIns="77975" spcFirstLastPara="1" rIns="77975" wrap="square" tIns="39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4" u="none" cap="none" strike="noStrike">
                <a:solidFill>
                  <a:srgbClr val="1C3A5C"/>
                </a:solidFill>
                <a:latin typeface="Calibri"/>
                <a:ea typeface="Calibri"/>
                <a:cs typeface="Calibri"/>
                <a:sym typeface="Calibri"/>
              </a:rPr>
              <a:t>1. Ausencia de Control de Calidad Post-Generación</a:t>
            </a:r>
            <a:endParaRPr sz="1194">
              <a:solidFill>
                <a:srgbClr val="1C3A5C"/>
              </a:solidFill>
            </a:endParaRPr>
          </a:p>
          <a:p>
            <a:pPr indent="0" lvl="0" marL="0" marR="0" rtl="0" algn="l">
              <a:spcBef>
                <a:spcPts val="427"/>
              </a:spcBef>
              <a:spcAft>
                <a:spcPts val="0"/>
              </a:spcAft>
              <a:buNone/>
            </a:pPr>
            <a:r>
              <a:rPr b="0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Aceptan todos los outputs del LLM </a:t>
            </a:r>
            <a:r>
              <a:rPr b="1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validación</a:t>
            </a:r>
            <a:r>
              <a:rPr b="0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cuantitativa</a:t>
            </a:r>
            <a:endParaRPr sz="1194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detectan texto fuera de tema, </a:t>
            </a:r>
            <a:r>
              <a:rPr b="1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duplicados o muestras que se desvían de la región objetivo</a:t>
            </a:r>
            <a:endParaRPr b="1" sz="1194"/>
          </a:p>
        </p:txBody>
      </p:sp>
      <p:sp>
        <p:nvSpPr>
          <p:cNvPr id="101" name="Google Shape;101;p5"/>
          <p:cNvSpPr/>
          <p:nvPr/>
        </p:nvSpPr>
        <p:spPr>
          <a:xfrm>
            <a:off x="258325" y="2507293"/>
            <a:ext cx="7020300" cy="9357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1650">
            <a:solidFill>
              <a:srgbClr val="3C7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9000" lIns="77975" spcFirstLastPara="1" rIns="77975" wrap="square" tIns="39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336331" y="2585299"/>
            <a:ext cx="68646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000" lIns="77975" spcFirstLastPara="1" rIns="77975" wrap="square" tIns="39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4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2. Ponderación Uniforme de Sintéticos</a:t>
            </a:r>
            <a:endParaRPr sz="1194">
              <a:solidFill>
                <a:srgbClr val="003366"/>
              </a:solidFill>
            </a:endParaRPr>
          </a:p>
          <a:p>
            <a:pPr indent="0" lvl="0" marL="0" marR="0" rtl="0" algn="l">
              <a:spcBef>
                <a:spcPts val="427"/>
              </a:spcBef>
              <a:spcAft>
                <a:spcPts val="0"/>
              </a:spcAft>
              <a:buNone/>
            </a:pPr>
            <a:r>
              <a:rPr b="0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Aplican </a:t>
            </a:r>
            <a:r>
              <a:rPr b="1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peso unitario</a:t>
            </a:r>
            <a:r>
              <a:rPr b="0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todas las muestras sintéticas sin discriminación</a:t>
            </a:r>
            <a:endParaRPr sz="1194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Ignoran que la confianza debería correlacionar con distancia a </a:t>
            </a:r>
            <a:r>
              <a:rPr b="1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vecinos reales</a:t>
            </a:r>
            <a:r>
              <a:rPr b="0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densidad local</a:t>
            </a:r>
            <a:endParaRPr b="1" sz="1194"/>
          </a:p>
        </p:txBody>
      </p:sp>
      <p:sp>
        <p:nvSpPr>
          <p:cNvPr id="103" name="Google Shape;103;p5"/>
          <p:cNvSpPr/>
          <p:nvPr/>
        </p:nvSpPr>
        <p:spPr>
          <a:xfrm>
            <a:off x="258325" y="3599372"/>
            <a:ext cx="7020300" cy="9357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1650">
            <a:solidFill>
              <a:srgbClr val="45818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9000" lIns="77975" spcFirstLastPara="1" rIns="77975" wrap="square" tIns="39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336331" y="3677378"/>
            <a:ext cx="68646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000" lIns="77975" spcFirstLastPara="1" rIns="77975" wrap="square" tIns="39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4" u="none" cap="none" strike="noStrike">
                <a:solidFill>
                  <a:srgbClr val="134F5C"/>
                </a:solidFill>
                <a:latin typeface="Calibri"/>
                <a:ea typeface="Calibri"/>
                <a:cs typeface="Calibri"/>
                <a:sym typeface="Calibri"/>
              </a:rPr>
              <a:t>3. Contexto Limitado para </a:t>
            </a:r>
            <a:r>
              <a:rPr b="1" i="0" lang="en-US" sz="1364" u="none" cap="none" strike="noStrike">
                <a:solidFill>
                  <a:srgbClr val="134F5C"/>
                </a:solidFill>
                <a:latin typeface="Calibri"/>
                <a:ea typeface="Calibri"/>
                <a:cs typeface="Calibri"/>
                <a:sym typeface="Calibri"/>
              </a:rPr>
              <a:t>Generación</a:t>
            </a:r>
            <a:endParaRPr sz="1194">
              <a:solidFill>
                <a:srgbClr val="134F5C"/>
              </a:solidFill>
            </a:endParaRPr>
          </a:p>
          <a:p>
            <a:pPr indent="0" lvl="0" marL="0" marR="0" rtl="0" algn="l">
              <a:spcBef>
                <a:spcPts val="427"/>
              </a:spcBef>
              <a:spcAft>
                <a:spcPts val="0"/>
              </a:spcAft>
              <a:buNone/>
            </a:pPr>
            <a:r>
              <a:rPr b="0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Condicionan únicamente en 2 vecinos fijos (interpolación SMOTE estándar)</a:t>
            </a:r>
            <a:endParaRPr sz="1194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Limitan </a:t>
            </a:r>
            <a:r>
              <a:rPr b="1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riqueza contextual en clases heterogéneas</a:t>
            </a:r>
            <a:r>
              <a:rPr b="0" i="0" lang="en-US" sz="11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subclusters temáticos distintivos</a:t>
            </a:r>
            <a:endParaRPr sz="1194"/>
          </a:p>
        </p:txBody>
      </p:sp>
      <p:sp>
        <p:nvSpPr>
          <p:cNvPr id="105" name="Google Shape;105;p5"/>
          <p:cNvSpPr txBox="1"/>
          <p:nvPr/>
        </p:nvSpPr>
        <p:spPr>
          <a:xfrm>
            <a:off x="457200" y="4691455"/>
            <a:ext cx="822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Estas limitaciones motivan el desarrollo de extensiones metodológicas más robustas</a:t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0" y="0"/>
            <a:ext cx="9144000" cy="879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46525" y="253900"/>
            <a:ext cx="8902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Gap Metodológico: Tres Limitaciones Críticas</a:t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108" name="Google Shape;108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46116653c_4_31"/>
          <p:cNvSpPr/>
          <p:nvPr/>
        </p:nvSpPr>
        <p:spPr>
          <a:xfrm>
            <a:off x="0" y="0"/>
            <a:ext cx="9144000" cy="879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a46116653c_4_31"/>
          <p:cNvSpPr/>
          <p:nvPr/>
        </p:nvSpPr>
        <p:spPr>
          <a:xfrm>
            <a:off x="146525" y="253900"/>
            <a:ext cx="8902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Hipótesis y Objetivos: Pipeline de Hibrido SMOTE-LLM </a:t>
            </a:r>
            <a:endParaRPr b="1" sz="2600">
              <a:solidFill>
                <a:srgbClr val="FFFFFF"/>
              </a:solidFill>
            </a:endParaRPr>
          </a:p>
        </p:txBody>
      </p:sp>
      <p:pic>
        <p:nvPicPr>
          <p:cNvPr id="116" name="Google Shape;116;g3a46116653c_4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1700"/>
            <a:ext cx="8839204" cy="356503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a46116653c_4_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381000" y="956463"/>
            <a:ext cx="5682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25" lIns="62275" spcFirstLastPara="1" rIns="62275" wrap="square" tIns="31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3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Arquitectura híbrida diseñada para superar las limitaciones identificadas</a:t>
            </a:r>
            <a:endParaRPr sz="953"/>
          </a:p>
        </p:txBody>
      </p:sp>
      <p:sp>
        <p:nvSpPr>
          <p:cNvPr id="123" name="Google Shape;123;p6"/>
          <p:cNvSpPr txBox="1"/>
          <p:nvPr/>
        </p:nvSpPr>
        <p:spPr>
          <a:xfrm>
            <a:off x="337668" y="1257749"/>
            <a:ext cx="34011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475" lIns="82950" spcFirstLastPara="1" rIns="82950" wrap="square" tIns="414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1">
                <a:solidFill>
                  <a:srgbClr val="34495E"/>
                </a:solidFill>
                <a:latin typeface="Calibri"/>
                <a:ea typeface="Calibri"/>
                <a:cs typeface="Calibri"/>
                <a:sym typeface="Calibri"/>
              </a:rPr>
              <a:t>Generación Inteligente</a:t>
            </a:r>
            <a:endParaRPr sz="1270">
              <a:solidFill>
                <a:srgbClr val="34495E"/>
              </a:solidFill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291248" y="1559563"/>
            <a:ext cx="34011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475" lIns="82950" spcFirstLastPara="1" rIns="82950" wrap="square" tIns="41475">
            <a:spAutoFit/>
          </a:bodyPr>
          <a:lstStyle/>
          <a:p>
            <a:pPr indent="0" lvl="0" marL="0" rtl="0" algn="l">
              <a:spcBef>
                <a:spcPts val="272"/>
              </a:spcBef>
              <a:spcAft>
                <a:spcPts val="0"/>
              </a:spcAft>
              <a:buSzPts val="1465"/>
              <a:buNone/>
            </a:pPr>
            <a:r>
              <a:rPr lang="en-US" sz="97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7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Ensemble multi-prompt (k=3, 3 prompts/cluster)</a:t>
            </a:r>
            <a:endParaRPr sz="9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72"/>
              </a:spcBef>
              <a:spcAft>
                <a:spcPts val="0"/>
              </a:spcAft>
              <a:buSzPts val="1465"/>
              <a:buNone/>
            </a:pPr>
            <a:r>
              <a:rPr lang="en-US" sz="97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7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Selección de 8 vecinos ponderados</a:t>
            </a:r>
            <a:endParaRPr sz="9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72"/>
              </a:spcBef>
              <a:spcAft>
                <a:spcPts val="0"/>
              </a:spcAft>
              <a:buNone/>
            </a:pPr>
            <a:r>
              <a:rPr lang="en-US" sz="97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7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Prompting con descripción de clase</a:t>
            </a:r>
            <a:endParaRPr sz="9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4960022" y="1275966"/>
            <a:ext cx="27495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525" lIns="67050" spcFirstLastPara="1" rIns="67050" wrap="square" tIns="33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45818E"/>
                </a:solidFill>
                <a:latin typeface="Calibri"/>
                <a:ea typeface="Calibri"/>
                <a:cs typeface="Calibri"/>
                <a:sym typeface="Calibri"/>
              </a:rPr>
              <a:t>Filtrado y Control de Calidad</a:t>
            </a:r>
            <a:endParaRPr sz="1450">
              <a:solidFill>
                <a:srgbClr val="45818E"/>
              </a:solidFill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4920854" y="1600983"/>
            <a:ext cx="27495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525" lIns="67050" spcFirstLastPara="1" rIns="67050" wrap="square" tIns="33525">
            <a:spAutoFit/>
          </a:bodyPr>
          <a:lstStyle/>
          <a:p>
            <a:pPr indent="0" lvl="0" marL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84"/>
              <a:buFont typeface="Arial"/>
              <a:buNone/>
            </a:pPr>
            <a:r>
              <a:rPr lang="en-US" sz="95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filtros en cascada (BLEU, confianza, similaridad)</a:t>
            </a:r>
            <a:endParaRPr sz="95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84"/>
              <a:buFont typeface="Arial"/>
              <a:buNone/>
            </a:pPr>
            <a:r>
              <a:rPr lang="en-US" sz="95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contaminación (threshold 0.95)</a:t>
            </a:r>
            <a:endParaRPr sz="95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95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</a:t>
            </a:r>
            <a:r>
              <a:rPr lang="en-US" sz="95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mbrales adaptativos por pureza de clase</a:t>
            </a:r>
            <a:endParaRPr sz="95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225" y="2452150"/>
            <a:ext cx="4268498" cy="22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1298" y="2165274"/>
            <a:ext cx="4166753" cy="263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0" y="0"/>
            <a:ext cx="9144000" cy="879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46525" y="253900"/>
            <a:ext cx="8902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Hipótesis y Objetivos: Cuatro Etapas Metodológicas</a:t>
            </a:r>
            <a:endParaRPr b="1" sz="2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131" name="Google Shape;131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46116653c_0_88"/>
          <p:cNvSpPr txBox="1"/>
          <p:nvPr/>
        </p:nvSpPr>
        <p:spPr>
          <a:xfrm>
            <a:off x="381002" y="1006735"/>
            <a:ext cx="32010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025" lIns="78050" spcFirstLastPara="1" rIns="78050" wrap="square" tIns="39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Validación Multi-Nivel</a:t>
            </a:r>
            <a:endParaRPr sz="1450"/>
          </a:p>
        </p:txBody>
      </p:sp>
      <p:sp>
        <p:nvSpPr>
          <p:cNvPr id="138" name="Google Shape;138;g3a46116653c_0_88"/>
          <p:cNvSpPr txBox="1"/>
          <p:nvPr/>
        </p:nvSpPr>
        <p:spPr>
          <a:xfrm>
            <a:off x="381002" y="1335894"/>
            <a:ext cx="3201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025" lIns="78050" spcFirstLastPara="1" rIns="78050" wrap="square" tIns="39025">
            <a:spAutoFit/>
          </a:bodyPr>
          <a:lstStyle/>
          <a:p>
            <a:pPr indent="0" lvl="0" marL="0" rtl="0" algn="l">
              <a:spcBef>
                <a:spcPts val="256"/>
              </a:spcBef>
              <a:spcAft>
                <a:spcPts val="0"/>
              </a:spcAft>
              <a:buSzPts val="1379"/>
              <a:buNone/>
            </a:pP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Val-gating (15% validación)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56"/>
              </a:spcBef>
              <a:spcAft>
                <a:spcPts val="0"/>
              </a:spcAft>
              <a:buSzPts val="1379"/>
              <a:buNone/>
            </a:pP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Per-class gating (tolerancia 0.02)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56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Anchor quality gating (0.50)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a46116653c_0_88"/>
          <p:cNvSpPr txBox="1"/>
          <p:nvPr/>
        </p:nvSpPr>
        <p:spPr>
          <a:xfrm>
            <a:off x="5092991" y="1006725"/>
            <a:ext cx="3159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00" lIns="39200" spcFirstLastPara="1" rIns="39200" wrap="square" tIns="196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Ponderación Geométrica</a:t>
            </a:r>
            <a:endParaRPr sz="1450"/>
          </a:p>
        </p:txBody>
      </p:sp>
      <p:sp>
        <p:nvSpPr>
          <p:cNvPr id="140" name="Google Shape;140;g3a46116653c_0_88"/>
          <p:cNvSpPr txBox="1"/>
          <p:nvPr/>
        </p:nvSpPr>
        <p:spPr>
          <a:xfrm>
            <a:off x="5093001" y="1316225"/>
            <a:ext cx="32415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00" lIns="39200" spcFirstLastPara="1" rIns="39200" wrap="square" tIns="19600">
            <a:spAutoFit/>
          </a:bodyPr>
          <a:lstStyle/>
          <a:p>
            <a:pPr indent="0" lvl="0" marL="0" rtl="0" algn="l">
              <a:spcBef>
                <a:spcPts val="12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un sintético está en zona DENSA de reales → Mayor peso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9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un sintético está en zona VACÍA de reales → Menor peso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g3a46116653c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2175" y="2245737"/>
            <a:ext cx="5226450" cy="24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a46116653c_0_88"/>
          <p:cNvSpPr/>
          <p:nvPr/>
        </p:nvSpPr>
        <p:spPr>
          <a:xfrm>
            <a:off x="173400" y="2135438"/>
            <a:ext cx="3616200" cy="965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290" rotWithShape="0" algn="bl" dir="2700000" dist="17780">
              <a:srgbClr val="000000">
                <a:alpha val="9800"/>
              </a:srgbClr>
            </a:outerShdw>
          </a:effectLst>
        </p:spPr>
        <p:txBody>
          <a:bodyPr anchorCtr="0" anchor="ctr" bIns="60325" lIns="120675" spcFirstLastPara="1" rIns="120675" wrap="square" tIns="60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6"/>
              <a:buFont typeface="Calibri"/>
              <a:buNone/>
            </a:pPr>
            <a:r>
              <a:t/>
            </a:r>
            <a:endParaRPr b="0" i="0" sz="23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g3a46116653c_0_88"/>
          <p:cNvCxnSpPr/>
          <p:nvPr/>
        </p:nvCxnSpPr>
        <p:spPr>
          <a:xfrm>
            <a:off x="190569" y="2135438"/>
            <a:ext cx="0" cy="965700"/>
          </a:xfrm>
          <a:prstGeom prst="straightConnector1">
            <a:avLst/>
          </a:prstGeom>
          <a:noFill/>
          <a:ln cap="flat" cmpd="sng" w="50325">
            <a:solidFill>
              <a:srgbClr val="16A0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g3a46116653c_0_88"/>
          <p:cNvSpPr/>
          <p:nvPr/>
        </p:nvSpPr>
        <p:spPr>
          <a:xfrm>
            <a:off x="319653" y="2191155"/>
            <a:ext cx="2789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087"/>
              <a:buFont typeface="Arial"/>
              <a:buNone/>
            </a:pPr>
            <a:r>
              <a:rPr b="1" i="0" lang="en-US" sz="1187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Espacio de Embeddings</a:t>
            </a:r>
            <a:endParaRPr b="0" i="0" sz="11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a46116653c_0_88"/>
          <p:cNvSpPr/>
          <p:nvPr/>
        </p:nvSpPr>
        <p:spPr>
          <a:xfrm>
            <a:off x="319650" y="2466701"/>
            <a:ext cx="28227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087"/>
              <a:buFont typeface="Arial"/>
              <a:buNone/>
            </a:pPr>
            <a:r>
              <a:rPr lang="en-US" sz="1087">
                <a:solidFill>
                  <a:srgbClr val="34495E"/>
                </a:solidFill>
              </a:rPr>
              <a:t>Valida cada sintético contra un conjunto de validación separado (15%). Rechaza si degrada el rendimiento.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a46116653c_0_88"/>
          <p:cNvSpPr/>
          <p:nvPr/>
        </p:nvSpPr>
        <p:spPr>
          <a:xfrm>
            <a:off x="173400" y="3200400"/>
            <a:ext cx="3616200" cy="79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1628" rotWithShape="0" algn="bl" dir="2700000" dist="14717">
              <a:srgbClr val="000000">
                <a:alpha val="9800"/>
              </a:srgbClr>
            </a:outerShdw>
          </a:effectLst>
        </p:spPr>
        <p:txBody>
          <a:bodyPr anchorCtr="0" anchor="ctr" bIns="49925" lIns="99900" spcFirstLastPara="1" rIns="99900" wrap="square" tIns="49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7"/>
              <a:buFont typeface="Calibri"/>
              <a:buNone/>
            </a:pPr>
            <a:r>
              <a:t/>
            </a:r>
            <a:endParaRPr b="0" i="0" sz="196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g3a46116653c_0_88"/>
          <p:cNvCxnSpPr/>
          <p:nvPr/>
        </p:nvCxnSpPr>
        <p:spPr>
          <a:xfrm>
            <a:off x="191038" y="3200400"/>
            <a:ext cx="0" cy="799200"/>
          </a:xfrm>
          <a:prstGeom prst="straightConnector1">
            <a:avLst/>
          </a:prstGeom>
          <a:noFill/>
          <a:ln cap="flat" cmpd="sng" w="41625">
            <a:solidFill>
              <a:srgbClr val="16A0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g3a46116653c_0_88"/>
          <p:cNvSpPr/>
          <p:nvPr/>
        </p:nvSpPr>
        <p:spPr>
          <a:xfrm>
            <a:off x="257834" y="3216450"/>
            <a:ext cx="33645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311"/>
              <a:buFont typeface="Arial"/>
              <a:buNone/>
            </a:pPr>
            <a:r>
              <a:rPr b="1" lang="en-US" sz="1111">
                <a:solidFill>
                  <a:srgbClr val="34495E"/>
                </a:solidFill>
              </a:rPr>
              <a:t>Per-Class Gating</a:t>
            </a:r>
            <a:endParaRPr b="0" i="0" sz="11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a46116653c_0_88"/>
          <p:cNvSpPr/>
          <p:nvPr/>
        </p:nvSpPr>
        <p:spPr>
          <a:xfrm>
            <a:off x="299250" y="3449544"/>
            <a:ext cx="33645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311"/>
              <a:buFont typeface="Arial"/>
              <a:buNone/>
            </a:pPr>
            <a:r>
              <a:rPr lang="en-US" sz="1011">
                <a:solidFill>
                  <a:srgbClr val="34495E"/>
                </a:solidFill>
              </a:rPr>
              <a:t>Aplica umbrales adaptativos por clase según su nivel de desbalance.</a:t>
            </a:r>
            <a:endParaRPr b="0" i="0" sz="10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a46116653c_0_88"/>
          <p:cNvSpPr/>
          <p:nvPr/>
        </p:nvSpPr>
        <p:spPr>
          <a:xfrm>
            <a:off x="173400" y="4098850"/>
            <a:ext cx="3616200" cy="79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1628" rotWithShape="0" algn="bl" dir="2700000" dist="14717">
              <a:srgbClr val="000000">
                <a:alpha val="9800"/>
              </a:srgbClr>
            </a:outerShdw>
          </a:effectLst>
        </p:spPr>
        <p:txBody>
          <a:bodyPr anchorCtr="0" anchor="ctr" bIns="49925" lIns="99900" spcFirstLastPara="1" rIns="99900" wrap="square" tIns="49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7"/>
              <a:buFont typeface="Calibri"/>
              <a:buNone/>
            </a:pPr>
            <a:r>
              <a:t/>
            </a:r>
            <a:endParaRPr b="0" i="0" sz="196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a46116653c_0_88"/>
          <p:cNvCxnSpPr/>
          <p:nvPr/>
        </p:nvCxnSpPr>
        <p:spPr>
          <a:xfrm>
            <a:off x="191038" y="4098850"/>
            <a:ext cx="0" cy="799200"/>
          </a:xfrm>
          <a:prstGeom prst="straightConnector1">
            <a:avLst/>
          </a:prstGeom>
          <a:noFill/>
          <a:ln cap="flat" cmpd="sng" w="41625">
            <a:solidFill>
              <a:srgbClr val="16A0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g3a46116653c_0_88"/>
          <p:cNvSpPr/>
          <p:nvPr/>
        </p:nvSpPr>
        <p:spPr>
          <a:xfrm>
            <a:off x="257834" y="4140512"/>
            <a:ext cx="33645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311"/>
              <a:buFont typeface="Arial"/>
              <a:buNone/>
            </a:pPr>
            <a:r>
              <a:rPr b="1" lang="en-US" sz="1111">
                <a:solidFill>
                  <a:srgbClr val="34495E"/>
                </a:solidFill>
              </a:rPr>
              <a:t>Anchor Quality</a:t>
            </a:r>
            <a:endParaRPr b="0" i="0" sz="11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a46116653c_0_88"/>
          <p:cNvSpPr/>
          <p:nvPr/>
        </p:nvSpPr>
        <p:spPr>
          <a:xfrm>
            <a:off x="0" y="0"/>
            <a:ext cx="9144000" cy="879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a46116653c_0_88"/>
          <p:cNvSpPr/>
          <p:nvPr/>
        </p:nvSpPr>
        <p:spPr>
          <a:xfrm>
            <a:off x="146525" y="253900"/>
            <a:ext cx="8902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Hipótesis y Objetivos: Cuatro Etapas Metodológicas</a:t>
            </a:r>
            <a:endParaRPr b="1" sz="2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155" name="Google Shape;155;g3a46116653c_0_88"/>
          <p:cNvSpPr/>
          <p:nvPr/>
        </p:nvSpPr>
        <p:spPr>
          <a:xfrm>
            <a:off x="257825" y="4373594"/>
            <a:ext cx="33645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311"/>
              <a:buFont typeface="Arial"/>
              <a:buNone/>
            </a:pPr>
            <a:r>
              <a:rPr lang="en-US" sz="1011">
                <a:solidFill>
                  <a:srgbClr val="34495E"/>
                </a:solidFill>
              </a:rPr>
              <a:t>Solo acepta sintéticos generados desde ejemplos ancla de alta calidad (≥0.50).</a:t>
            </a:r>
            <a:endParaRPr b="0" i="0" sz="10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a46116653c_0_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457200" y="1097276"/>
            <a:ext cx="3657600" cy="39279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 cap="flat" cmpd="sng" w="25400">
            <a:solidFill>
              <a:srgbClr val="0033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548640" y="1188720"/>
            <a:ext cx="38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4495E"/>
                </a:solidFill>
                <a:latin typeface="Calibri"/>
                <a:ea typeface="Calibri"/>
                <a:cs typeface="Calibri"/>
                <a:sym typeface="Calibri"/>
              </a:rPr>
              <a:t>Dataset: MBTI</a:t>
            </a:r>
            <a:endParaRPr>
              <a:solidFill>
                <a:srgbClr val="34495E"/>
              </a:solidFill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640080" y="1737360"/>
            <a:ext cx="36576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8,675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16 clases de personalidad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Overlap semántico inherente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Heterogeneidad intra-clase</a:t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4663449" y="1097276"/>
            <a:ext cx="3657600" cy="39279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 cap="flat" cmpd="sng" w="25400">
            <a:solidFill>
              <a:srgbClr val="2980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4754880" y="1188720"/>
            <a:ext cx="38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Configuración Experimental</a:t>
            </a:r>
            <a:endParaRPr>
              <a:solidFill>
                <a:srgbClr val="2980B9"/>
              </a:solidFill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5168700" y="1614775"/>
            <a:ext cx="2813100" cy="30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Validación Rigurosa:</a:t>
            </a:r>
            <a:endParaRPr>
              <a:solidFill>
                <a:srgbClr val="2980B9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273 configuraciones probadas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Grid search sistemático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Multi-seed validation (n=25)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Métricas:</a:t>
            </a:r>
            <a:endParaRPr>
              <a:solidFill>
                <a:srgbClr val="2980B9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Macro F1-Score (principal)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F1 por clase y tier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 de Aceptacion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(calidad)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Parámetros Optimizados:</a:t>
            </a:r>
            <a:endParaRPr>
              <a:solidFill>
                <a:srgbClr val="2980B9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_clusters: 3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k_neighbors: 8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temperature: 0.5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similarity_threshold: 0.90</a:t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0" y="0"/>
            <a:ext cx="9144000" cy="879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46525" y="253900"/>
            <a:ext cx="8902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Metodología: Experimental y Validación</a:t>
            </a:r>
            <a:endParaRPr b="1" sz="2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169" name="Google Shape;16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0" name="Google Shape;170;p8" title="fig_mbti1_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75" y="2831225"/>
            <a:ext cx="3026253" cy="1882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/>
        </p:nvSpPr>
        <p:spPr>
          <a:xfrm>
            <a:off x="424350" y="947250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Validación empírica con 273 experimentos demuestra mejora significativa y robustez estadística</a:t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6185875" y="1514550"/>
            <a:ext cx="2662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Resultados </a:t>
            </a:r>
            <a:r>
              <a:rPr b="1" lang="en-US" sz="1800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b="1" i="0" lang="en-US" sz="1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Dificultad</a:t>
            </a:r>
            <a:endParaRPr/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LOW (F1 &lt; 20%): +12.17%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Mejora significativa en clases minoritarias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MID (20-45%): 0.59%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aumento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HIGH (F1 ≥ 45%): -0.05%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Protección exitosa de clases mayoritarias</a:t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0" y="0"/>
            <a:ext cx="9144000" cy="879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46525" y="253900"/>
            <a:ext cx="8902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Resultados: Aumento del 1.00% Macro F1</a:t>
            </a:r>
            <a:endParaRPr b="1" sz="2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3203513" y="1480450"/>
            <a:ext cx="2788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08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rPr>
              <a:t>Mejoras por Tipo MBTI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203513" y="1845525"/>
            <a:ext cx="2733600" cy="412500"/>
          </a:xfrm>
          <a:prstGeom prst="roundRect">
            <a:avLst>
              <a:gd fmla="val 15392" name="adj"/>
            </a:avLst>
          </a:prstGeom>
          <a:solidFill>
            <a:srgbClr val="FFFFFF"/>
          </a:solidFill>
          <a:ln>
            <a:noFill/>
          </a:ln>
          <a:effectLst>
            <a:outerShdw blurRad="28575" rotWithShape="0" algn="bl" dir="2700000" dist="1347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3355913" y="1966076"/>
            <a:ext cx="397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C3E50"/>
                </a:solidFill>
              </a:rPr>
              <a:t>ISFJ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rgbClr val="2C3E50"/>
              </a:solidFill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177123" y="1947026"/>
            <a:ext cx="619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lang="en-US">
                <a:solidFill>
                  <a:srgbClr val="27AE60"/>
                </a:solidFill>
              </a:rPr>
              <a:t>5</a:t>
            </a:r>
            <a:r>
              <a:rPr b="1" i="0" lang="en-US" sz="14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>
                <a:solidFill>
                  <a:srgbClr val="27AE60"/>
                </a:solidFill>
              </a:rPr>
              <a:t>96</a:t>
            </a:r>
            <a:r>
              <a:rPr b="1" i="0" lang="en-US" sz="14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203513" y="2321478"/>
            <a:ext cx="2733600" cy="412500"/>
          </a:xfrm>
          <a:prstGeom prst="roundRect">
            <a:avLst>
              <a:gd fmla="val 15392" name="adj"/>
            </a:avLst>
          </a:prstGeom>
          <a:solidFill>
            <a:srgbClr val="FFFFFF"/>
          </a:solidFill>
          <a:ln>
            <a:noFill/>
          </a:ln>
          <a:effectLst>
            <a:outerShdw blurRad="28575" rotWithShape="0" algn="bl" dir="2700000" dist="1347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355927" y="2442025"/>
            <a:ext cx="459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lang="en-US" sz="1200">
                <a:solidFill>
                  <a:srgbClr val="2C3E50"/>
                </a:solidFill>
              </a:rPr>
              <a:t>N</a:t>
            </a: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FJ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177123" y="2422979"/>
            <a:ext cx="619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lang="en-US">
                <a:solidFill>
                  <a:srgbClr val="27AE60"/>
                </a:solidFill>
              </a:rPr>
              <a:t>2</a:t>
            </a:r>
            <a:r>
              <a:rPr b="1" i="0" lang="en-US" sz="14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>
                <a:solidFill>
                  <a:srgbClr val="27AE60"/>
                </a:solidFill>
              </a:rPr>
              <a:t>39</a:t>
            </a:r>
            <a:r>
              <a:rPr b="1" i="0" lang="en-US" sz="14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203513" y="2797430"/>
            <a:ext cx="2733600" cy="412500"/>
          </a:xfrm>
          <a:prstGeom prst="roundRect">
            <a:avLst>
              <a:gd fmla="val 15392" name="adj"/>
            </a:avLst>
          </a:prstGeom>
          <a:solidFill>
            <a:srgbClr val="FFFFFF"/>
          </a:solidFill>
          <a:ln>
            <a:noFill/>
          </a:ln>
          <a:effectLst>
            <a:outerShdw blurRad="28575" rotWithShape="0" algn="bl" dir="2700000" dist="1347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3355930" y="2917975"/>
            <a:ext cx="459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C3E50"/>
                </a:solidFill>
              </a:rPr>
              <a:t>ISTP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186946" y="2898931"/>
            <a:ext cx="609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+1.</a:t>
            </a:r>
            <a:r>
              <a:rPr b="1" lang="en-US">
                <a:solidFill>
                  <a:srgbClr val="27AE60"/>
                </a:solidFill>
              </a:rPr>
              <a:t>1</a:t>
            </a:r>
            <a:r>
              <a:rPr b="1" i="0" lang="en-US" sz="14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203513" y="3273382"/>
            <a:ext cx="2733600" cy="412500"/>
          </a:xfrm>
          <a:prstGeom prst="roundRect">
            <a:avLst>
              <a:gd fmla="val 15392" name="adj"/>
            </a:avLst>
          </a:prstGeom>
          <a:solidFill>
            <a:srgbClr val="FFFFFF"/>
          </a:solidFill>
          <a:ln>
            <a:noFill/>
          </a:ln>
          <a:effectLst>
            <a:outerShdw blurRad="28575" rotWithShape="0" algn="bl" dir="2700000" dist="1347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182076" y="3374775"/>
            <a:ext cx="609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lang="en-US">
                <a:solidFill>
                  <a:srgbClr val="27AE60"/>
                </a:solidFill>
              </a:rPr>
              <a:t>0.87</a:t>
            </a:r>
            <a:r>
              <a:rPr b="1" i="0" lang="en-US" sz="14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203513" y="3749335"/>
            <a:ext cx="2733600" cy="412500"/>
          </a:xfrm>
          <a:prstGeom prst="roundRect">
            <a:avLst>
              <a:gd fmla="val 15392" name="adj"/>
            </a:avLst>
          </a:prstGeom>
          <a:solidFill>
            <a:srgbClr val="FFFFFF"/>
          </a:solidFill>
          <a:ln>
            <a:noFill/>
          </a:ln>
          <a:effectLst>
            <a:outerShdw blurRad="28575" rotWithShape="0" algn="bl" dir="2700000" dist="1347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355913" y="3869886"/>
            <a:ext cx="40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C3E50"/>
                </a:solidFill>
              </a:rPr>
              <a:t>ISTJ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186951" y="3850725"/>
            <a:ext cx="609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lang="en-US">
                <a:solidFill>
                  <a:srgbClr val="27AE60"/>
                </a:solidFill>
              </a:rPr>
              <a:t>0.74</a:t>
            </a:r>
            <a:r>
              <a:rPr b="1" i="0" lang="en-US" sz="14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203513" y="4225287"/>
            <a:ext cx="2733600" cy="374400"/>
          </a:xfrm>
          <a:prstGeom prst="roundRect">
            <a:avLst>
              <a:gd fmla="val 16958" name="adj"/>
            </a:avLst>
          </a:prstGeom>
          <a:solidFill>
            <a:srgbClr val="FFFFFF"/>
          </a:solidFill>
          <a:ln>
            <a:noFill/>
          </a:ln>
          <a:effectLst>
            <a:outerShdw blurRad="28575" rotWithShape="0" algn="bl" dir="2700000" dist="1347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355913" y="4326788"/>
            <a:ext cx="837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ESFP/ESTJ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543375" y="4326801"/>
            <a:ext cx="125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5A5A6"/>
                </a:solidFill>
              </a:rPr>
              <a:t>Cambios menores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3355930" y="3393825"/>
            <a:ext cx="459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C3E50"/>
                </a:solidFill>
              </a:rPr>
              <a:t>ESFP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46525" y="1480450"/>
            <a:ext cx="2733600" cy="873000"/>
          </a:xfrm>
          <a:prstGeom prst="roundRect">
            <a:avLst>
              <a:gd fmla="val 7274" name="adj"/>
            </a:avLst>
          </a:prstGeom>
          <a:solidFill>
            <a:srgbClr val="FFFFFF"/>
          </a:solidFill>
          <a:ln>
            <a:noFill/>
          </a:ln>
          <a:effectLst>
            <a:outerShdw blurRad="28575" rotWithShape="0" algn="bl" dir="2700000" dist="1347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165575" y="1480450"/>
            <a:ext cx="0" cy="873000"/>
          </a:xfrm>
          <a:prstGeom prst="straightConnector1">
            <a:avLst/>
          </a:prstGeom>
          <a:noFill/>
          <a:ln cap="flat" cmpd="sng" w="38100">
            <a:solidFill>
              <a:srgbClr val="16A0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9"/>
          <p:cNvSpPr/>
          <p:nvPr/>
        </p:nvSpPr>
        <p:spPr>
          <a:xfrm>
            <a:off x="311576" y="1607401"/>
            <a:ext cx="2490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F1-Score Macro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11576" y="1788376"/>
            <a:ext cx="249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b="1" lang="en-US" sz="1800">
                <a:solidFill>
                  <a:srgbClr val="2C3E50"/>
                </a:solidFill>
              </a:rPr>
              <a:t>455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11576" y="2055076"/>
            <a:ext cx="2490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↑ </a:t>
            </a:r>
            <a:r>
              <a:rPr lang="en-US" sz="1200">
                <a:solidFill>
                  <a:srgbClr val="27AE60"/>
                </a:solidFill>
              </a:rPr>
              <a:t>+1.00%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46525" y="2480427"/>
            <a:ext cx="2733600" cy="873000"/>
          </a:xfrm>
          <a:prstGeom prst="roundRect">
            <a:avLst>
              <a:gd fmla="val 7274" name="adj"/>
            </a:avLst>
          </a:prstGeom>
          <a:solidFill>
            <a:srgbClr val="FFFFFF"/>
          </a:solidFill>
          <a:ln>
            <a:noFill/>
          </a:ln>
          <a:effectLst>
            <a:outerShdw blurRad="28575" rotWithShape="0" algn="bl" dir="2700000" dist="1347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9"/>
          <p:cNvCxnSpPr/>
          <p:nvPr/>
        </p:nvCxnSpPr>
        <p:spPr>
          <a:xfrm>
            <a:off x="165575" y="2480427"/>
            <a:ext cx="0" cy="873000"/>
          </a:xfrm>
          <a:prstGeom prst="straightConnector1">
            <a:avLst/>
          </a:prstGeom>
          <a:noFill/>
          <a:ln cap="flat" cmpd="sng" w="38100">
            <a:solidFill>
              <a:srgbClr val="16A0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9"/>
          <p:cNvSpPr/>
          <p:nvPr/>
        </p:nvSpPr>
        <p:spPr>
          <a:xfrm>
            <a:off x="311576" y="2607377"/>
            <a:ext cx="2490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311576" y="2788352"/>
            <a:ext cx="249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b="1" lang="en-US" sz="1800">
                <a:solidFill>
                  <a:srgbClr val="2C3E50"/>
                </a:solidFill>
              </a:rPr>
              <a:t>374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11576" y="3055052"/>
            <a:ext cx="2490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↑ +</a:t>
            </a:r>
            <a:r>
              <a:rPr lang="en-US" sz="1200">
                <a:solidFill>
                  <a:srgbClr val="27AE60"/>
                </a:solidFill>
              </a:rPr>
              <a:t>0.377%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46525" y="3480303"/>
            <a:ext cx="2733600" cy="873000"/>
          </a:xfrm>
          <a:prstGeom prst="roundRect">
            <a:avLst>
              <a:gd fmla="val 7274" name="adj"/>
            </a:avLst>
          </a:prstGeom>
          <a:solidFill>
            <a:srgbClr val="FFFFFF"/>
          </a:solidFill>
          <a:ln>
            <a:noFill/>
          </a:ln>
          <a:effectLst>
            <a:outerShdw blurRad="28575" rotWithShape="0" algn="bl" dir="2700000" dist="1347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9"/>
          <p:cNvCxnSpPr/>
          <p:nvPr/>
        </p:nvCxnSpPr>
        <p:spPr>
          <a:xfrm>
            <a:off x="165575" y="3480303"/>
            <a:ext cx="0" cy="873000"/>
          </a:xfrm>
          <a:prstGeom prst="straightConnector1">
            <a:avLst/>
          </a:prstGeom>
          <a:noFill/>
          <a:ln cap="flat" cmpd="sng" w="38100">
            <a:solidFill>
              <a:srgbClr val="16A0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9"/>
          <p:cNvSpPr/>
          <p:nvPr/>
        </p:nvSpPr>
        <p:spPr>
          <a:xfrm>
            <a:off x="311576" y="3607253"/>
            <a:ext cx="2490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Sintéticos Generados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311576" y="3788228"/>
            <a:ext cx="249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2C3E50"/>
                </a:solidFill>
              </a:rPr>
              <a:t>187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11576" y="4054928"/>
            <a:ext cx="2490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Alta calidad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/>
        </p:nvSpPr>
        <p:spPr>
          <a:xfrm>
            <a:off x="146525" y="1158925"/>
            <a:ext cx="39063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350" lIns="82700" spcFirstLastPara="1" rIns="82700" wrap="square" tIns="41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7" u="none" cap="none" strike="noStrike">
                <a:solidFill>
                  <a:srgbClr val="34495E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447">
                <a:solidFill>
                  <a:srgbClr val="34495E"/>
                </a:solidFill>
                <a:latin typeface="Calibri"/>
                <a:ea typeface="Calibri"/>
                <a:cs typeface="Calibri"/>
                <a:sym typeface="Calibri"/>
              </a:rPr>
              <a:t>Control de Calidad: La Diferencia Entre Éxito y Fracaso</a:t>
            </a:r>
            <a:endParaRPr sz="1266"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724"/>
              </a:spcBef>
              <a:spcAft>
                <a:spcPts val="0"/>
              </a:spcAft>
              <a:buNone/>
            </a:pPr>
            <a:r>
              <a:rPr b="1" lang="en-US" sz="11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filtros transforman resultados:</a:t>
            </a:r>
            <a:endParaRPr sz="12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5"/>
              <a:buFont typeface="Arial"/>
              <a:buNone/>
            </a:pPr>
            <a:r>
              <a:rPr lang="en-US" sz="10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Selección de ancla (k=8): Mejor contexto → mejores sintéticos</a:t>
            </a:r>
            <a:endParaRPr sz="10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5"/>
              <a:buFont typeface="Arial"/>
              <a:buNone/>
            </a:pPr>
            <a:r>
              <a:rPr lang="en-US" sz="10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Filtrado multi-nivel: 5 filtros eliminan 80% de baja calidad</a:t>
            </a:r>
            <a:endParaRPr sz="10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5"/>
              <a:buFont typeface="Arial"/>
              <a:buNone/>
            </a:pPr>
            <a:r>
              <a:rPr lang="en-US" sz="10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contaminación: Previene degradación del modelo</a:t>
            </a:r>
            <a:endParaRPr sz="10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5"/>
              <a:buFont typeface="Arial"/>
              <a:buNone/>
            </a:pPr>
            <a:r>
              <a:rPr lang="en-US" sz="10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Caso ISTJ: Sin filtros = -2.44% | Con filtros = +1.84%</a:t>
            </a:r>
            <a:endParaRPr sz="10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5"/>
              <a:buNone/>
            </a:pPr>
            <a:r>
              <a:rPr lang="en-US" sz="10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4.28 puntos porcentuales de peor clase a mejor mejora</a:t>
            </a:r>
            <a:endParaRPr sz="10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4724450" y="1158925"/>
            <a:ext cx="3816000" cy="18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050" lIns="78100" spcFirstLastPara="1" rIns="78100" wrap="square" tIns="3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6">
                <a:solidFill>
                  <a:srgbClr val="2E8B9E"/>
                </a:solidFill>
                <a:latin typeface="Calibri"/>
                <a:ea typeface="Calibri"/>
                <a:cs typeface="Calibri"/>
                <a:sym typeface="Calibri"/>
              </a:rPr>
              <a:t>2. Configuración Inteligente de LLMs sin Fine-Tuning</a:t>
            </a:r>
            <a:endParaRPr sz="1195">
              <a:solidFill>
                <a:srgbClr val="2E8B9E"/>
              </a:solidFill>
            </a:endParaRPr>
          </a:p>
          <a:p>
            <a:pPr indent="0" lvl="0" marL="0" marR="0" rtl="0" algn="l">
              <a:spcBef>
                <a:spcPts val="683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Ajustes simples reducen costos dramáticamente:</a:t>
            </a:r>
            <a:endParaRPr sz="119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</a:pPr>
            <a:r>
              <a:rPr lang="en-US" sz="10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Temperatura 0.5: Balance entre variedad y coherencia</a:t>
            </a:r>
            <a:endParaRPr sz="1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</a:pPr>
            <a:r>
              <a:rPr lang="en-US" sz="10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Prompting estructurado: Guiar generación con contexto</a:t>
            </a:r>
            <a:endParaRPr sz="1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</a:pPr>
            <a:r>
              <a:rPr lang="en-US" sz="10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Top-p optimizado: Mantener calidad sin tokens desperdiciados</a:t>
            </a:r>
            <a:endParaRPr sz="1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</a:pPr>
            <a:r>
              <a:rPr lang="en-US" sz="10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Resultado: $0.13/experimento vs costos de fine-tuning</a:t>
            </a:r>
            <a:endParaRPr sz="1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</a:pPr>
            <a:r>
              <a:rPr lang="en-US" sz="10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Sin sacrificar calidad de generación</a:t>
            </a:r>
            <a:endParaRPr sz="1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Framework económicamente accesible</a:t>
            </a:r>
            <a:endParaRPr sz="1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5"/>
          </a:p>
        </p:txBody>
      </p:sp>
      <p:sp>
        <p:nvSpPr>
          <p:cNvPr id="220" name="Google Shape;220;p10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Caso ISTJ: De peor clase (-2.44%) a mejor mejora (+1.84%) = +4.28pp swing</a:t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0" y="0"/>
            <a:ext cx="9144000" cy="879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46525" y="253900"/>
            <a:ext cx="8902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Hallazgos Clave: Manejo de la </a:t>
            </a:r>
            <a:r>
              <a:rPr b="1" lang="en-US" sz="2600">
                <a:solidFill>
                  <a:srgbClr val="FFFFFF"/>
                </a:solidFill>
              </a:rPr>
              <a:t>Contaminación</a:t>
            </a:r>
            <a:endParaRPr b="1" sz="2600">
              <a:solidFill>
                <a:srgbClr val="FFFFFF"/>
              </a:solidFill>
            </a:endParaRPr>
          </a:p>
        </p:txBody>
      </p:sp>
      <p:pic>
        <p:nvPicPr>
          <p:cNvPr id="223" name="Google Shape;22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877" y="2797225"/>
            <a:ext cx="2019600" cy="229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4315775" y="3048025"/>
            <a:ext cx="2224800" cy="879300"/>
          </a:xfrm>
          <a:prstGeom prst="roundRect">
            <a:avLst>
              <a:gd fmla="val 8994" name="adj"/>
            </a:avLst>
          </a:prstGeom>
          <a:solidFill>
            <a:srgbClr val="FFFFFF"/>
          </a:solidFill>
          <a:ln>
            <a:noFill/>
          </a:ln>
          <a:effectLst>
            <a:outerShdw blurRad="23480" rotWithShape="0" algn="bl" dir="2700000" dist="11068">
              <a:srgbClr val="000000">
                <a:alpha val="9800"/>
              </a:srgbClr>
            </a:outerShdw>
          </a:effectLst>
        </p:spPr>
        <p:txBody>
          <a:bodyPr anchorCtr="0" anchor="ctr" bIns="37550" lIns="75125" spcFirstLastPara="1" rIns="75125" wrap="square" tIns="37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9"/>
              <a:buFont typeface="Calibri"/>
              <a:buNone/>
            </a:pPr>
            <a:r>
              <a:t/>
            </a:r>
            <a:endParaRPr b="0" i="0" sz="147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10"/>
          <p:cNvCxnSpPr/>
          <p:nvPr/>
        </p:nvCxnSpPr>
        <p:spPr>
          <a:xfrm flipH="1" rot="10800000">
            <a:off x="4315775" y="3059779"/>
            <a:ext cx="2224800" cy="3900"/>
          </a:xfrm>
          <a:prstGeom prst="straightConnector1">
            <a:avLst/>
          </a:prstGeom>
          <a:noFill/>
          <a:ln cap="flat" cmpd="sng" w="31300">
            <a:solidFill>
              <a:srgbClr val="3449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0"/>
          <p:cNvSpPr/>
          <p:nvPr/>
        </p:nvSpPr>
        <p:spPr>
          <a:xfrm>
            <a:off x="4373582" y="3168127"/>
            <a:ext cx="2019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904"/>
              <a:buFont typeface="Arial"/>
              <a:buNone/>
            </a:pPr>
            <a:r>
              <a:rPr b="1" lang="en-US" sz="903">
                <a:solidFill>
                  <a:srgbClr val="34495E"/>
                </a:solidFill>
              </a:rPr>
              <a:t>Disminución</a:t>
            </a:r>
            <a:r>
              <a:rPr b="1" lang="en-US" sz="903">
                <a:solidFill>
                  <a:srgbClr val="34495E"/>
                </a:solidFill>
              </a:rPr>
              <a:t> de tiempo vs generar solo con LLMs</a:t>
            </a:r>
            <a:endParaRPr b="0" i="0" sz="90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418323" y="3533235"/>
            <a:ext cx="1930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904"/>
              <a:buFont typeface="Arial"/>
              <a:buNone/>
            </a:pPr>
            <a:r>
              <a:rPr lang="en-US" sz="903">
                <a:solidFill>
                  <a:srgbClr val="34495E"/>
                </a:solidFill>
              </a:rPr>
              <a:t>No es necesario generar todos los datos vía api</a:t>
            </a:r>
            <a:endParaRPr b="0" i="0" sz="90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724325" y="3048025"/>
            <a:ext cx="2224800" cy="879300"/>
          </a:xfrm>
          <a:prstGeom prst="roundRect">
            <a:avLst>
              <a:gd fmla="val 8994" name="adj"/>
            </a:avLst>
          </a:prstGeom>
          <a:solidFill>
            <a:srgbClr val="FFFFFF"/>
          </a:solidFill>
          <a:ln>
            <a:noFill/>
          </a:ln>
          <a:effectLst>
            <a:outerShdw blurRad="23481" rotWithShape="0" algn="bl" dir="2700000" dist="11069">
              <a:srgbClr val="000000">
                <a:alpha val="9800"/>
              </a:srgbClr>
            </a:outerShdw>
          </a:effectLst>
        </p:spPr>
        <p:txBody>
          <a:bodyPr anchorCtr="0" anchor="ctr" bIns="37550" lIns="75125" spcFirstLastPara="1" rIns="75125" wrap="square" tIns="37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9"/>
              <a:buFont typeface="Calibri"/>
              <a:buNone/>
            </a:pPr>
            <a:r>
              <a:t/>
            </a:r>
            <a:endParaRPr b="0" i="0" sz="147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10"/>
          <p:cNvCxnSpPr/>
          <p:nvPr/>
        </p:nvCxnSpPr>
        <p:spPr>
          <a:xfrm flipH="1" rot="10800000">
            <a:off x="6724325" y="3059780"/>
            <a:ext cx="2224800" cy="3900"/>
          </a:xfrm>
          <a:prstGeom prst="straightConnector1">
            <a:avLst/>
          </a:prstGeom>
          <a:noFill/>
          <a:ln cap="flat" cmpd="sng" w="31300">
            <a:solidFill>
              <a:srgbClr val="3449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0"/>
          <p:cNvSpPr/>
          <p:nvPr/>
        </p:nvSpPr>
        <p:spPr>
          <a:xfrm>
            <a:off x="6782133" y="3168129"/>
            <a:ext cx="2019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904"/>
              <a:buFont typeface="Arial"/>
              <a:buNone/>
            </a:pPr>
            <a:r>
              <a:rPr b="1" lang="en-US" sz="903">
                <a:solidFill>
                  <a:srgbClr val="34495E"/>
                </a:solidFill>
              </a:rPr>
              <a:t>Menores</a:t>
            </a:r>
            <a:r>
              <a:rPr b="1" lang="en-US" sz="903">
                <a:solidFill>
                  <a:srgbClr val="34495E"/>
                </a:solidFill>
              </a:rPr>
              <a:t> de costos frente a un fine-tuning</a:t>
            </a:r>
            <a:endParaRPr b="0" i="0" sz="90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826875" y="3533246"/>
            <a:ext cx="1930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904"/>
              <a:buFont typeface="Arial"/>
              <a:buNone/>
            </a:pPr>
            <a:r>
              <a:rPr lang="en-US" sz="903">
                <a:solidFill>
                  <a:srgbClr val="34495E"/>
                </a:solidFill>
              </a:rPr>
              <a:t>No es necesario re-entrenar el modelo y hacer las peticiones</a:t>
            </a:r>
            <a:endParaRPr b="0" i="0" sz="90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5520050" y="4013375"/>
            <a:ext cx="2224800" cy="627900"/>
          </a:xfrm>
          <a:prstGeom prst="roundRect">
            <a:avLst>
              <a:gd fmla="val 8994" name="adj"/>
            </a:avLst>
          </a:prstGeom>
          <a:solidFill>
            <a:srgbClr val="FFFFFF"/>
          </a:solidFill>
          <a:ln>
            <a:noFill/>
          </a:ln>
          <a:effectLst>
            <a:outerShdw blurRad="23480" rotWithShape="0" algn="bl" dir="2700000" dist="11068">
              <a:srgbClr val="000000">
                <a:alpha val="9800"/>
              </a:srgbClr>
            </a:outerShdw>
          </a:effectLst>
        </p:spPr>
        <p:txBody>
          <a:bodyPr anchorCtr="0" anchor="ctr" bIns="37550" lIns="75125" spcFirstLastPara="1" rIns="75125" wrap="square" tIns="37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9"/>
              <a:buFont typeface="Calibri"/>
              <a:buNone/>
            </a:pPr>
            <a:r>
              <a:t/>
            </a:r>
            <a:endParaRPr b="0" i="0" sz="147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0"/>
          <p:cNvCxnSpPr/>
          <p:nvPr/>
        </p:nvCxnSpPr>
        <p:spPr>
          <a:xfrm flipH="1" rot="10800000">
            <a:off x="5520050" y="4025129"/>
            <a:ext cx="2224800" cy="3900"/>
          </a:xfrm>
          <a:prstGeom prst="straightConnector1">
            <a:avLst/>
          </a:prstGeom>
          <a:noFill/>
          <a:ln cap="flat" cmpd="sng" w="31300">
            <a:solidFill>
              <a:srgbClr val="3449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0"/>
          <p:cNvSpPr/>
          <p:nvPr/>
        </p:nvSpPr>
        <p:spPr>
          <a:xfrm>
            <a:off x="5577850" y="4133475"/>
            <a:ext cx="20196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904"/>
              <a:buFont typeface="Arial"/>
              <a:buNone/>
            </a:pPr>
            <a:r>
              <a:rPr b="1" lang="en-US" sz="903">
                <a:solidFill>
                  <a:srgbClr val="34495E"/>
                </a:solidFill>
              </a:rPr>
              <a:t>Generación</a:t>
            </a:r>
            <a:r>
              <a:rPr b="1" lang="en-US" sz="903">
                <a:solidFill>
                  <a:srgbClr val="34495E"/>
                </a:solidFill>
              </a:rPr>
              <a:t> en base a </a:t>
            </a:r>
            <a:r>
              <a:rPr b="1" lang="en-US" sz="903">
                <a:solidFill>
                  <a:srgbClr val="34495E"/>
                </a:solidFill>
              </a:rPr>
              <a:t>semántica</a:t>
            </a:r>
            <a:endParaRPr b="0" i="0" sz="90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622548" y="4371797"/>
            <a:ext cx="1930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904"/>
              <a:buFont typeface="Arial"/>
              <a:buNone/>
            </a:pPr>
            <a:r>
              <a:rPr lang="en-US" sz="903">
                <a:solidFill>
                  <a:srgbClr val="34495E"/>
                </a:solidFill>
              </a:rPr>
              <a:t>No es solo </a:t>
            </a:r>
            <a:r>
              <a:rPr lang="en-US" sz="903">
                <a:solidFill>
                  <a:srgbClr val="34495E"/>
                </a:solidFill>
              </a:rPr>
              <a:t>interpolación</a:t>
            </a:r>
            <a:r>
              <a:rPr lang="en-US" sz="903">
                <a:solidFill>
                  <a:srgbClr val="34495E"/>
                </a:solidFill>
              </a:rPr>
              <a:t> </a:t>
            </a:r>
            <a:r>
              <a:rPr lang="en-US" sz="903">
                <a:solidFill>
                  <a:srgbClr val="34495E"/>
                </a:solidFill>
              </a:rPr>
              <a:t>numérica</a:t>
            </a:r>
            <a:endParaRPr b="0" i="0" sz="90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/>
          <p:nvPr/>
        </p:nvSpPr>
        <p:spPr>
          <a:xfrm>
            <a:off x="457200" y="1097280"/>
            <a:ext cx="2560320" cy="256032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38100">
            <a:solidFill>
              <a:srgbClr val="3449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594360" y="1234439"/>
            <a:ext cx="228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4495E"/>
                </a:solidFill>
                <a:latin typeface="Calibri"/>
                <a:ea typeface="Calibri"/>
                <a:cs typeface="Calibri"/>
                <a:sym typeface="Calibri"/>
              </a:rPr>
              <a:t>Contribuciones Científicas</a:t>
            </a:r>
            <a:endParaRPr>
              <a:solidFill>
                <a:srgbClr val="34495E"/>
              </a:solidFill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594360" y="1783080"/>
            <a:ext cx="2286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Proportional Contamination Theory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F1-Budget Scaling 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Filtrado Multi-Nivel Adaptativo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Anchor Selection</a:t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3291840" y="1097280"/>
            <a:ext cx="2560320" cy="256032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38100">
            <a:solidFill>
              <a:srgbClr val="2980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3429000" y="1234439"/>
            <a:ext cx="228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Resultados Experimentales</a:t>
            </a:r>
            <a:endParaRPr>
              <a:solidFill>
                <a:srgbClr val="2980B9"/>
              </a:solidFill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3429000" y="1783080"/>
            <a:ext cx="22860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Macro F1: +1.00% absoluto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LOW tier: +12.17% promedio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273 experimentos validados</a:t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6126480" y="1097280"/>
            <a:ext cx="2560320" cy="256032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38100">
            <a:solidFill>
              <a:srgbClr val="2E8B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6263640" y="1234439"/>
            <a:ext cx="228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E8B9E"/>
                </a:solidFill>
                <a:latin typeface="Calibri"/>
                <a:ea typeface="Calibri"/>
                <a:cs typeface="Calibri"/>
                <a:sym typeface="Calibri"/>
              </a:rPr>
              <a:t>Impacto Práctico</a:t>
            </a:r>
            <a:endParaRPr>
              <a:solidFill>
                <a:srgbClr val="2E8B9E"/>
              </a:solidFill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6263640" y="1783080"/>
            <a:ext cx="22860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Sin fine-tuning ($0.13/exp)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Protocolo reproducible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Framework generalizable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Validación estadística</a:t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0" y="0"/>
            <a:ext cx="9144000" cy="879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46525" y="253900"/>
            <a:ext cx="8902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Conclusiones y Logros Principales</a:t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2571750" y="4409450"/>
            <a:ext cx="4095900" cy="435300"/>
          </a:xfrm>
          <a:prstGeom prst="roundRect">
            <a:avLst>
              <a:gd fmla="val 8698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1951728" y="4479451"/>
            <a:ext cx="5231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085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00" y="4286762"/>
            <a:ext cx="1637425" cy="68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5749" y="4056594"/>
            <a:ext cx="1280976" cy="91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2025-11-16T05:30:38Z</dcterms:created>
  <dc:creator>Benjamín - Universidad de Las Américas</dc:creator>
</cp:coreProperties>
</file>